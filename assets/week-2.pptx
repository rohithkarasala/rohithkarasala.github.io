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2097512" cy="6766560"/>
          </a:xfrm>
          <a:prstGeom prst="rect">
            <a:avLst/>
          </a:prstGeom>
          <a:solidFill>
            <a:srgbClr val="0B1020">
              <a:alpha val="0"/>
            </a:srgbClr>
          </a:solidFill>
          <a:ln w="12700">
            <a:solidFill>
              <a:srgbClr val="334155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8229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Neural Network Components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94944" y="1874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</a:rPr>
              <a:t>Week 2 Portfolio Artifact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2359152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A visual guide to how layers, neurons, weights, activation functions, loss functions, and optimization algorithms work together to learn from data.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941832" cy="-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001000" y="1463040"/>
            <a:ext cx="94183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001000" y="1463040"/>
            <a:ext cx="941832" cy="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001000" y="1463040"/>
            <a:ext cx="941832" cy="11887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001000" y="1463040"/>
            <a:ext cx="941832" cy="17830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001000" y="2057400"/>
            <a:ext cx="941832" cy="-11887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01000" y="2057400"/>
            <a:ext cx="941832" cy="-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001000" y="2057400"/>
            <a:ext cx="94183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01000" y="2057400"/>
            <a:ext cx="941832" cy="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01000" y="2057400"/>
            <a:ext cx="941832" cy="11887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01000" y="2651760"/>
            <a:ext cx="941832" cy="-17830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01000" y="2651760"/>
            <a:ext cx="941832" cy="-11887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01000" y="2651760"/>
            <a:ext cx="941832" cy="-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01000" y="2651760"/>
            <a:ext cx="94183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01000" y="2651760"/>
            <a:ext cx="941832" cy="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89720" y="868680"/>
            <a:ext cx="941832" cy="2971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89720" y="868680"/>
            <a:ext cx="941832" cy="8915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89720" y="868680"/>
            <a:ext cx="941832" cy="14859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89720" y="868680"/>
            <a:ext cx="941832" cy="20802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89720" y="1463040"/>
            <a:ext cx="941832" cy="-2971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89720" y="1463040"/>
            <a:ext cx="941832" cy="2971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189720" y="1463040"/>
            <a:ext cx="941832" cy="8915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189720" y="1463040"/>
            <a:ext cx="941832" cy="14859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189720" y="2057400"/>
            <a:ext cx="941832" cy="-8915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89720" y="2057400"/>
            <a:ext cx="941832" cy="-2971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189720" y="2057400"/>
            <a:ext cx="941832" cy="2971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189720" y="2057400"/>
            <a:ext cx="941832" cy="8915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189720" y="2651760"/>
            <a:ext cx="941832" cy="-14859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189720" y="2651760"/>
            <a:ext cx="941832" cy="-8915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189720" y="2651760"/>
            <a:ext cx="941832" cy="-2971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189720" y="2651760"/>
            <a:ext cx="941832" cy="2971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189720" y="3246120"/>
            <a:ext cx="941832" cy="-20802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189720" y="3246120"/>
            <a:ext cx="941832" cy="-14859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189720" y="3246120"/>
            <a:ext cx="941832" cy="-8915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189720" y="3246120"/>
            <a:ext cx="941832" cy="-2971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378440" y="1165860"/>
            <a:ext cx="713232" cy="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378440" y="1165860"/>
            <a:ext cx="713232" cy="11887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378440" y="1760220"/>
            <a:ext cx="71323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378440" y="1760220"/>
            <a:ext cx="713232" cy="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0378440" y="2354580"/>
            <a:ext cx="713232" cy="-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378440" y="2354580"/>
            <a:ext cx="71323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378440" y="2948940"/>
            <a:ext cx="713232" cy="-11887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0378440" y="2948940"/>
            <a:ext cx="713232" cy="-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680960" y="1234440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1828800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80960" y="2423160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69680" y="64008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69680" y="123444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69680" y="182880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69680" y="242316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69680" y="301752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058400" y="937260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058400" y="1531620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058400" y="2125980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058400" y="2720340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018520" y="1531620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018520" y="2125980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88352" y="416052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61504" y="4219956"/>
            <a:ext cx="676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</a:rPr>
              <a:t>Inputs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641080" y="4160520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14232" y="4219956"/>
            <a:ext cx="10424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</a:rPr>
              <a:t>Hidden Layers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0771632" y="416052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844784" y="4219956"/>
            <a:ext cx="676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</a:rPr>
              <a:t>Outputs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713232" y="5897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Rohith Karasala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2097512" cy="6766560"/>
          </a:xfrm>
          <a:prstGeom prst="rect">
            <a:avLst/>
          </a:prstGeom>
          <a:solidFill>
            <a:srgbClr val="0B1020">
              <a:alpha val="0"/>
            </a:srgbClr>
          </a:solidFill>
          <a:ln w="12700">
            <a:solidFill>
              <a:srgbClr val="334155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Neural network at a glance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 neural network transforms input data into a prediction through connected layers.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10927080" cy="4343400"/>
          </a:xfrm>
          <a:prstGeom prst="roundRect">
            <a:avLst>
              <a:gd name="adj" fmla="val 168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2024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48840"/>
            <a:ext cx="114300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Raw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67712" y="2249424"/>
            <a:ext cx="38404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43200" y="192024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48840"/>
            <a:ext cx="114300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Input layer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96512" y="2249424"/>
            <a:ext cx="7040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92040" y="192024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8B5CF6">
              <a:alpha val="9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148840"/>
            <a:ext cx="114300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Hidden layers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45352" y="2249424"/>
            <a:ext cx="97840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0" y="192024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14B8A6">
              <a:alpha val="9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2148840"/>
            <a:ext cx="114300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Output layer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68512" y="2249424"/>
            <a:ext cx="7040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464040" y="192024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55480" y="2148840"/>
            <a:ext cx="114300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Prediction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2953512"/>
            <a:ext cx="15544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Features are prepared from examples.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97480" y="2953512"/>
            <a:ext cx="15544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Each input feature enters the model.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2953512"/>
            <a:ext cx="15544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Patterns are learned through weighted connections.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69480" y="2953512"/>
            <a:ext cx="15544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The model converts learned signals into a result.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418320" y="2953512"/>
            <a:ext cx="15544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The result is compared with the real answer.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78992" y="4800600"/>
            <a:ext cx="96012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The important idea: learning is not “memorizing.” The model adjusts thousands or millions of small connection values so it can generalize from examples to new cases.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92124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Week 2 Portfolio Artifact  • 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2097512" cy="6766560"/>
          </a:xfrm>
          <a:prstGeom prst="rect">
            <a:avLst/>
          </a:prstGeom>
          <a:solidFill>
            <a:srgbClr val="0B1020">
              <a:alpha val="0"/>
            </a:srgbClr>
          </a:solidFill>
          <a:ln w="12700">
            <a:solidFill>
              <a:srgbClr val="334155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Layers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Layers organize computation into stages. Each stage transforms the signal before passing it forward.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2029968"/>
            <a:ext cx="2103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94560" y="2029968"/>
            <a:ext cx="2103120" cy="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94560" y="2029968"/>
            <a:ext cx="2103120" cy="11887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94560" y="2029968"/>
            <a:ext cx="2103120" cy="17830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94560" y="2029968"/>
            <a:ext cx="2103120" cy="23774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94560" y="2624328"/>
            <a:ext cx="2103120" cy="-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94560" y="2624328"/>
            <a:ext cx="2103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194560" y="2624328"/>
            <a:ext cx="2103120" cy="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94560" y="2624328"/>
            <a:ext cx="2103120" cy="11887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194560" y="2624328"/>
            <a:ext cx="2103120" cy="17830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194560" y="3218688"/>
            <a:ext cx="2103120" cy="-11887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194560" y="3218688"/>
            <a:ext cx="2103120" cy="-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194560" y="3218688"/>
            <a:ext cx="2103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194560" y="3218688"/>
            <a:ext cx="2103120" cy="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194560" y="3218688"/>
            <a:ext cx="2103120" cy="11887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194560" y="3813048"/>
            <a:ext cx="2103120" cy="-17830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194560" y="3813048"/>
            <a:ext cx="2103120" cy="-11887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194560" y="3813048"/>
            <a:ext cx="2103120" cy="-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194560" y="3813048"/>
            <a:ext cx="2103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194560" y="3813048"/>
            <a:ext cx="2103120" cy="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572000" y="2029968"/>
            <a:ext cx="2103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72000" y="2029968"/>
            <a:ext cx="2103120" cy="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572000" y="2029968"/>
            <a:ext cx="2103120" cy="11887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72000" y="2029968"/>
            <a:ext cx="2103120" cy="17830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572000" y="2029968"/>
            <a:ext cx="2103120" cy="23774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572000" y="2624328"/>
            <a:ext cx="2103120" cy="-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572000" y="2624328"/>
            <a:ext cx="2103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572000" y="2624328"/>
            <a:ext cx="2103120" cy="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572000" y="2624328"/>
            <a:ext cx="2103120" cy="11887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572000" y="2624328"/>
            <a:ext cx="2103120" cy="17830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572000" y="3218688"/>
            <a:ext cx="2103120" cy="-11887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572000" y="3218688"/>
            <a:ext cx="2103120" cy="-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572000" y="3218688"/>
            <a:ext cx="2103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572000" y="3218688"/>
            <a:ext cx="2103120" cy="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572000" y="3218688"/>
            <a:ext cx="2103120" cy="11887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572000" y="3813048"/>
            <a:ext cx="2103120" cy="-17830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572000" y="3813048"/>
            <a:ext cx="2103120" cy="-11887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572000" y="3813048"/>
            <a:ext cx="2103120" cy="-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572000" y="3813048"/>
            <a:ext cx="2103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572000" y="3813048"/>
            <a:ext cx="2103120" cy="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572000" y="4407408"/>
            <a:ext cx="2103120" cy="-23774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4572000" y="4407408"/>
            <a:ext cx="2103120" cy="-17830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572000" y="4407408"/>
            <a:ext cx="2103120" cy="-11887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4572000" y="4407408"/>
            <a:ext cx="2103120" cy="-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4572000" y="4407408"/>
            <a:ext cx="2103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6949440" y="2029968"/>
            <a:ext cx="2103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949440" y="2029968"/>
            <a:ext cx="2103120" cy="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6949440" y="2029968"/>
            <a:ext cx="2103120" cy="11887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949440" y="2624328"/>
            <a:ext cx="2103120" cy="-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949440" y="2624328"/>
            <a:ext cx="2103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949440" y="2624328"/>
            <a:ext cx="2103120" cy="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949440" y="3218688"/>
            <a:ext cx="2103120" cy="-11887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6949440" y="3218688"/>
            <a:ext cx="2103120" cy="-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6949440" y="3218688"/>
            <a:ext cx="2103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6949440" y="3813048"/>
            <a:ext cx="2103120" cy="-17830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6949440" y="3813048"/>
            <a:ext cx="2103120" cy="-11887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6949440" y="3813048"/>
            <a:ext cx="2103120" cy="-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6949440" y="4407408"/>
            <a:ext cx="2103120" cy="-23774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949440" y="4407408"/>
            <a:ext cx="2103120" cy="-17830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6949440" y="4407408"/>
            <a:ext cx="2103120" cy="-11887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1828800" y="1828800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828800" y="2423160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828800" y="3017520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28800" y="3611880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06240" y="182880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06240" y="242316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06240" y="301752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06240" y="361188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206240" y="420624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583680" y="182880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583680" y="242316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583680" y="301752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583680" y="361188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583680" y="420624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961120" y="1828800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61120" y="2423160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961120" y="3017520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508760" y="5166360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581912" y="5225796"/>
            <a:ext cx="9509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</a:rPr>
              <a:t>Input layer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3767328" y="5166360"/>
            <a:ext cx="1170432" cy="256032"/>
          </a:xfrm>
          <a:prstGeom prst="roundRect">
            <a:avLst>
              <a:gd name="adj" fmla="val 28571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840480" y="5225796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</a:rPr>
              <a:t>Hidden layer 1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144768" y="5166360"/>
            <a:ext cx="1170432" cy="256032"/>
          </a:xfrm>
          <a:prstGeom prst="roundRect">
            <a:avLst>
              <a:gd name="adj" fmla="val 28571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217920" y="5225796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</a:rPr>
              <a:t>Hidden layer 2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8641080" y="5166360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714232" y="5225796"/>
            <a:ext cx="9509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</a:rPr>
              <a:t>Output layer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10012680" y="1417320"/>
            <a:ext cx="1536192" cy="4389120"/>
          </a:xfrm>
          <a:prstGeom prst="roundRect">
            <a:avLst>
              <a:gd name="adj" fmla="val 4762"/>
            </a:avLst>
          </a:prstGeom>
          <a:solidFill>
            <a:srgbClr val="121A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149840" y="1664208"/>
            <a:ext cx="1234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Role of layers</a:t>
            </a:r>
            <a:endParaRPr lang="en-US" sz="1500" dirty="0"/>
          </a:p>
        </p:txBody>
      </p:sp>
      <p:sp>
        <p:nvSpPr>
          <p:cNvPr id="93" name="Text 91"/>
          <p:cNvSpPr/>
          <p:nvPr/>
        </p:nvSpPr>
        <p:spPr>
          <a:xfrm>
            <a:off x="10149840" y="2084832"/>
            <a:ext cx="1207008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Input layer receives features. Hidden layers learn patterns and combinations. Output layer produces the final class, number, or probability.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10149840" y="4343400"/>
            <a:ext cx="11887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More layers can learn richer patterns, but may need more data and tuning.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992124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Week 2 Portfolio Artifact  • 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2097512" cy="6766560"/>
          </a:xfrm>
          <a:prstGeom prst="rect">
            <a:avLst/>
          </a:prstGeom>
          <a:solidFill>
            <a:srgbClr val="0B1020">
              <a:alpha val="0"/>
            </a:srgbClr>
          </a:solidFill>
          <a:ln w="12700">
            <a:solidFill>
              <a:srgbClr val="334155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Neurons and weights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 neuron combines incoming signals using weights, then decides what signal to pass forward.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4800600" cy="4526280"/>
          </a:xfrm>
          <a:prstGeom prst="roundRect">
            <a:avLst>
              <a:gd name="adj" fmla="val 1616"/>
            </a:avLst>
          </a:prstGeom>
          <a:solidFill>
            <a:srgbClr val="121A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00784"/>
            <a:ext cx="22860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Neuron calculation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7280" y="2286000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81635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x₁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600200" y="2542032"/>
            <a:ext cx="118872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057400" y="2331720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w₁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3017520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54787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x₂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600200" y="3273552"/>
            <a:ext cx="1188720" cy="-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057400" y="2834640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w₂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7280" y="3749040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427939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x₃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600200" y="4005072"/>
            <a:ext cx="1188720" cy="-10058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057400" y="3337560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w₃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34640" y="2697480"/>
            <a:ext cx="960120" cy="9601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8FAFC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3054096"/>
            <a:ext cx="50292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Σ + b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794760" y="3172968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754880" y="2907792"/>
            <a:ext cx="502920" cy="5029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343814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a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05840" y="4617720"/>
            <a:ext cx="42062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weighted sum = x₁w₁ + x₂w₂ + x₃w₃ + bias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897880" y="141732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121A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1700784"/>
            <a:ext cx="29260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What each part means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72200" y="2240280"/>
            <a:ext cx="1051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Neuron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60920" y="2212848"/>
            <a:ext cx="33375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 small processing unit that turns multiple inputs into one output signal.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72200" y="2971800"/>
            <a:ext cx="1051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Weight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60920" y="2907792"/>
            <a:ext cx="333756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 learnable value that controls how strongly one signal influences the next layer.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3794760"/>
            <a:ext cx="1051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Bias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60920" y="3730752"/>
            <a:ext cx="333756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 learnable offset that helps the model shift the decision boundary.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92124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Week 2 Portfolio Artifact  • 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2097512" cy="6766560"/>
          </a:xfrm>
          <a:prstGeom prst="rect">
            <a:avLst/>
          </a:prstGeom>
          <a:solidFill>
            <a:srgbClr val="0B1020">
              <a:alpha val="0"/>
            </a:srgbClr>
          </a:solidFill>
          <a:ln w="12700">
            <a:solidFill>
              <a:srgbClr val="334155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Activation functions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Activation functions add nonlinearity, allowing neural networks to model complex patterns.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00200"/>
            <a:ext cx="3154680" cy="4297680"/>
          </a:xfrm>
          <a:prstGeom prst="roundRect">
            <a:avLst>
              <a:gd name="adj" fmla="val 2319"/>
            </a:avLst>
          </a:prstGeom>
          <a:solidFill>
            <a:srgbClr val="121A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11887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ReLU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0" y="1847088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906524"/>
            <a:ext cx="722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</a:rPr>
              <a:t>activation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188720" y="3931920"/>
            <a:ext cx="2148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2743200"/>
            <a:ext cx="0" cy="17830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3703320"/>
            <a:ext cx="91440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3703320"/>
            <a:ext cx="1051560" cy="-82296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4617720"/>
            <a:ext cx="25603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Keeps positive values; turns negative values into zero.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8992" y="5276088"/>
            <a:ext cx="25603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Fast and common for hidden layers.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600200"/>
            <a:ext cx="3154680" cy="4297680"/>
          </a:xfrm>
          <a:prstGeom prst="roundRect">
            <a:avLst>
              <a:gd name="adj" fmla="val 2319"/>
            </a:avLst>
          </a:prstGeom>
          <a:solidFill>
            <a:srgbClr val="121A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874520"/>
            <a:ext cx="11887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Sigmoid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37960" y="1847088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1906524"/>
            <a:ext cx="722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</a:rPr>
              <a:t>activation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983480" y="3931920"/>
            <a:ext cx="2148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9320" y="2743200"/>
            <a:ext cx="0" cy="17830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2880360"/>
            <a:ext cx="1691640" cy="914400"/>
          </a:xfrm>
          <a:prstGeom prst="arc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4617720"/>
            <a:ext cx="25603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Squashes values between 0 and 1.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73752" y="5276088"/>
            <a:ext cx="25603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Useful for probabilities in binary outputs.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66760" y="1600200"/>
            <a:ext cx="3154680" cy="4297680"/>
          </a:xfrm>
          <a:prstGeom prst="roundRect">
            <a:avLst>
              <a:gd name="adj" fmla="val 2319"/>
            </a:avLst>
          </a:prstGeom>
          <a:solidFill>
            <a:srgbClr val="121A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1874520"/>
            <a:ext cx="11887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Tanh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332720" y="1847088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05872" y="1906524"/>
            <a:ext cx="722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</a:rPr>
              <a:t>activation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8778240" y="3931920"/>
            <a:ext cx="2148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84080" y="2743200"/>
            <a:ext cx="0" cy="17830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06840" y="2788920"/>
            <a:ext cx="1691640" cy="1051560"/>
          </a:xfrm>
          <a:prstGeom prst="arc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25128" y="3703320"/>
            <a:ext cx="1664208" cy="-594360"/>
          </a:xfrm>
          <a:prstGeom prst="line">
            <a:avLst/>
          </a:prstGeom>
          <a:noFill/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68512" y="4617720"/>
            <a:ext cx="25603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Squashes values between -1 and 1.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68512" y="5276088"/>
            <a:ext cx="25603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Often used when centered outputs help.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92124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Week 2 Portfolio Artifact  • 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2097512" cy="6766560"/>
          </a:xfrm>
          <a:prstGeom prst="rect">
            <a:avLst/>
          </a:prstGeom>
          <a:solidFill>
            <a:srgbClr val="0B1020">
              <a:alpha val="0"/>
            </a:srgbClr>
          </a:solidFill>
          <a:ln w="12700">
            <a:solidFill>
              <a:srgbClr val="334155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Loss functions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 loss function measures how wrong the model is, turning performance into a number the model can improve.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63040"/>
            <a:ext cx="4754880" cy="4434840"/>
          </a:xfrm>
          <a:prstGeom prst="roundRect">
            <a:avLst>
              <a:gd name="adj" fmla="val 1649"/>
            </a:avLst>
          </a:prstGeom>
          <a:solidFill>
            <a:srgbClr val="121A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Prediction vs. truth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4440" y="246888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2633472"/>
            <a:ext cx="10058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Predicted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0.72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0" y="246888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6472" y="2633472"/>
            <a:ext cx="10058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Actual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1.00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606040" y="2788920"/>
            <a:ext cx="9601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880360" y="2450592"/>
            <a:ext cx="4572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error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4069080"/>
            <a:ext cx="39319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Smaller loss means the model’s predictions are closer to the correct answers.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89320" y="14630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21A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737360"/>
            <a:ext cx="22860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Common examples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309360" y="2423160"/>
            <a:ext cx="502920" cy="502920"/>
          </a:xfrm>
          <a:prstGeom prst="chevron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2441448"/>
            <a:ext cx="2103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Mean Squared Error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95160" y="2770632"/>
            <a:ext cx="3611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Often used for numeric prediction. Larger errors are penalized more.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3566160"/>
            <a:ext cx="502920" cy="502920"/>
          </a:xfrm>
          <a:prstGeom prst="chevron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3584448"/>
            <a:ext cx="2103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Cross-Entropy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3913632"/>
            <a:ext cx="3611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Often used for classification. It rewards confident correct predictions.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55080" y="4983480"/>
            <a:ext cx="4480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Loss gives the optimizer a target: reduce this number over many training steps.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92124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Week 2 Portfolio Artifact  • 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2097512" cy="6766560"/>
          </a:xfrm>
          <a:prstGeom prst="rect">
            <a:avLst/>
          </a:prstGeom>
          <a:solidFill>
            <a:srgbClr val="0B1020">
              <a:alpha val="0"/>
            </a:srgbClr>
          </a:solidFill>
          <a:ln w="12700">
            <a:solidFill>
              <a:srgbClr val="334155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Optimization algorithms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Optimizers adjust weights and biases to reduce loss. Training is repeated improvement.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96596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2130552"/>
            <a:ext cx="205740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Forward pass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52728" y="2468880"/>
            <a:ext cx="19933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Make a prediction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16552" y="2130552"/>
            <a:ext cx="205740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Compute loss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53128" y="2468880"/>
            <a:ext cx="19933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Measure the error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51960" y="425196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4416552"/>
            <a:ext cx="205740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Backpropagation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53128" y="4754880"/>
            <a:ext cx="19933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Find each weight’s contribution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51560" y="425196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4416552"/>
            <a:ext cx="205740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Update weights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52728" y="4754880"/>
            <a:ext cx="19933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Move toward lower loss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20440" y="2404872"/>
            <a:ext cx="6400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68112" y="2852928"/>
            <a:ext cx="0" cy="1307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206240" y="4681728"/>
            <a:ext cx="-6858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5840" y="4160520"/>
            <a:ext cx="0" cy="-1307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15200" y="1600200"/>
            <a:ext cx="4023360" cy="4251960"/>
          </a:xfrm>
          <a:prstGeom prst="roundRect">
            <a:avLst>
              <a:gd name="adj" fmla="val 1818"/>
            </a:avLst>
          </a:prstGeom>
          <a:solidFill>
            <a:srgbClr val="121A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1874520"/>
            <a:ext cx="256032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Algorithms you may see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35240" y="2542032"/>
            <a:ext cx="1828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Gradient Descent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35240" y="2862072"/>
            <a:ext cx="31546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Uses the slope of the loss to update weights in a better direction.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635240" y="3675888"/>
            <a:ext cx="10058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Adam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35240" y="3986784"/>
            <a:ext cx="32461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A popular optimizer that adapts learning rates for different weights.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35240" y="4773168"/>
            <a:ext cx="1463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Learning rate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635240" y="5084064"/>
            <a:ext cx="32461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Controls step size. Too high can overshoot; too low can train slowly.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92124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Week 2 Portfolio Artifact  • 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2097512" cy="6766560"/>
          </a:xfrm>
          <a:prstGeom prst="rect">
            <a:avLst/>
          </a:prstGeom>
          <a:solidFill>
            <a:srgbClr val="0B1020">
              <a:alpha val="0"/>
            </a:srgbClr>
          </a:solidFill>
          <a:ln w="12700">
            <a:solidFill>
              <a:srgbClr val="334155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Playground experiment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Changing data, noise, features, and hidden layers changes how quickly and accurately the model learns.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0020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121A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901952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892808"/>
            <a:ext cx="19202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More noise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2276856"/>
            <a:ext cx="34747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Training becomes harder because the boundary is less clear.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121A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901952"/>
            <a:ext cx="594360" cy="5943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1892808"/>
            <a:ext cx="19202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More neurons/layers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69480" y="2276856"/>
            <a:ext cx="34747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Model can learn more complex shapes but may overfit.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65760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121A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3959352"/>
            <a:ext cx="594360" cy="5943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3950208"/>
            <a:ext cx="19202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Better features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37360" y="4334256"/>
            <a:ext cx="34747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Good input features simplify the learning problem.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365760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121A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3959352"/>
            <a:ext cx="594360" cy="5943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3950208"/>
            <a:ext cx="19202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Optimization settings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69480" y="4334256"/>
            <a:ext cx="34747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Learning rate and training steps affect speed and stability.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05840" y="5989320"/>
            <a:ext cx="101498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Portfolio value: this artifact shows not just technical knowledge, but the ability to explain model behavior clearly to technical and nontechnical audiences.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92124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Week 2 Portfolio Artifact  • 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2097512" cy="6766560"/>
          </a:xfrm>
          <a:prstGeom prst="rect">
            <a:avLst/>
          </a:prstGeom>
          <a:solidFill>
            <a:srgbClr val="0B1020">
              <a:alpha val="0"/>
            </a:srgbClr>
          </a:solidFill>
          <a:ln w="12700">
            <a:solidFill>
              <a:srgbClr val="334155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Summary: key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Visuals make abstract AI concepts easier to inspect, explain, and improve.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508760"/>
            <a:ext cx="3200400" cy="4297680"/>
          </a:xfrm>
          <a:prstGeom prst="roundRect">
            <a:avLst>
              <a:gd name="adj" fmla="val 2286"/>
            </a:avLst>
          </a:prstGeom>
          <a:solidFill>
            <a:srgbClr val="121A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783080"/>
            <a:ext cx="13716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Key insight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331720"/>
            <a:ext cx="260604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A neural network is a pipeline of layered transformations. Its intelligence comes from learned weights, nonlinear activations, and repeated optimization.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1508760"/>
            <a:ext cx="3200400" cy="4297680"/>
          </a:xfrm>
          <a:prstGeom prst="roundRect">
            <a:avLst>
              <a:gd name="adj" fmla="val 2286"/>
            </a:avLst>
          </a:prstGeom>
          <a:solidFill>
            <a:srgbClr val="121A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783080"/>
            <a:ext cx="18288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What I learned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2331720"/>
            <a:ext cx="256032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Small design choices, such as feature selection, hidden layer size, activation choice, and learning rate, can significantly affect training behavior.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1508760"/>
            <a:ext cx="3200400" cy="4297680"/>
          </a:xfrm>
          <a:prstGeom prst="roundRect">
            <a:avLst>
              <a:gd name="adj" fmla="val 2286"/>
            </a:avLst>
          </a:prstGeom>
          <a:solidFill>
            <a:srgbClr val="121A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783080"/>
            <a:ext cx="20116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Portfolio angle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66760" y="2331720"/>
            <a:ext cx="2578608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This artifact demonstrates my ability to simplify complex AI concepts into clear, visual, audience-friendly communication.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286000" y="5074920"/>
            <a:ext cx="30175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943600" y="5074920"/>
            <a:ext cx="30175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554480" y="4828032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36192" y="52852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8FAFC"/>
                </a:solidFill>
              </a:rPr>
              <a:t>in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5212080" y="4828032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52852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8FAFC"/>
                </a:solidFill>
              </a:rPr>
              <a:t>learn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8869680" y="4828032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8FAFC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51392" y="52852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8FAFC"/>
                </a:solidFill>
              </a:rPr>
              <a:t>out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992124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Week 2 Portfolio Artifact  • 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2097512" cy="6766560"/>
          </a:xfrm>
          <a:prstGeom prst="rect">
            <a:avLst/>
          </a:prstGeom>
          <a:solidFill>
            <a:srgbClr val="0B1020">
              <a:alpha val="0"/>
            </a:srgbClr>
          </a:solidFill>
          <a:ln w="12700">
            <a:solidFill>
              <a:srgbClr val="334155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Suggested APA 7 references for the portfolio artifact.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124712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17320"/>
            <a:ext cx="10469880" cy="4526280"/>
          </a:xfrm>
          <a:prstGeom prst="roundRect">
            <a:avLst>
              <a:gd name="adj" fmla="val 1616"/>
            </a:avLst>
          </a:prstGeom>
          <a:solidFill>
            <a:srgbClr val="121A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783080"/>
            <a:ext cx="9921240" cy="3337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Goodfellow, I., Bengio, Y., &amp; Courville, A. (2016). Deep learning. MIT Press. https://www.deeplearningbook.org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Google. (n.d.). TensorFlow Playground. https://playground.tensorflow.org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Nielsen, M. A. (2015). Neural networks and deep learning. Determination Press. http://neuralnetworksanddeeplearning.com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Chollet, F. (2021). Deep learning with Python (2nd ed.). Manning Publications.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5394960"/>
            <a:ext cx="96926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Note: The presentation was created as a visual learning artifact for AIML 505 Week 2 and can be embedded or linked from the portfolio artifact page.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2124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Week 2 Portfolio Artifact  • 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Indiana Wesleyan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Portfolio Artifact: Neural Network Components</dc:title>
  <dc:subject>Neural Network Components Portfolio Artifact</dc:subject>
  <dc:creator>Rohith Karasala</dc:creator>
  <cp:lastModifiedBy>Rohith Karasala</cp:lastModifiedBy>
  <cp:revision>1</cp:revision>
  <dcterms:created xsi:type="dcterms:W3CDTF">2026-05-20T22:31:27Z</dcterms:created>
  <dcterms:modified xsi:type="dcterms:W3CDTF">2026-05-20T22:31:27Z</dcterms:modified>
</cp:coreProperties>
</file>